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4114800"/>
            <a:ext cx="7315200" cy="7315200"/>
          </a:xfrm>
          <a:prstGeom prst="ellipse">
            <a:avLst/>
          </a:prstGeom>
          <a:solidFill>
            <a:srgbClr val="1A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DD835"/>
                </a:solidFill>
                <a:latin typeface="맑은 고딕"/>
              </a:rPr>
              <a:t>한국스마트물류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맑은 고딕"/>
              </a:rPr>
              <a:t>STORE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매장 매니저 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FDD835"/>
                </a:solidFill>
                <a:latin typeface="맑은 고딕"/>
              </a:rPr>
              <a:t>팔레오 매장 운영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교육 항목 7가지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1. 출퇴근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9377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2. 판매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9377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3. 반품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9" y="49377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4. 회원 가입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5. 재고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035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6. 재고 입고확인 /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3035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맑은 고딕"/>
              </a:rPr>
              <a:t>• 7. 휴무 신청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CCCCCC"/>
                </a:solidFill>
                <a:latin typeface="맑은 고딕"/>
              </a:rPr>
              <a:t>(주)한국생활건강 — 본 교육자료는 매장 매니저 분들의 시스템 활용을 돕기 위해 제작되었습니다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시작하기 · 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시스템 접속과 첫 화면 안내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65100"/>
                </a:solidFill>
                <a:latin typeface="맑은 고딕"/>
              </a:rPr>
              <a:t>📌 로그인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9712" y="217627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762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브라우저로 시스템 접속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Chrome 또는 Edge 브라우저에서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시스템 주소를 입력합니다.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089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327355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2735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735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아이디 / 비밀번호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611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매장별로 발급받은 아이디와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비밀번호를 입력합니다.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20624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39712" y="437083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370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708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"로그인" 클릭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09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본인의 매장 정보가 표시되는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홈 화면으로 진입합니다.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539496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5486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01010"/>
                </a:solidFill>
                <a:latin typeface="맑은 고딕"/>
              </a:rPr>
              <a:t>💡 아이디·비밀번호를 잊으셨다면 본사 담당자에게 문의하세요.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출퇴근 체크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하루 시작과 마무리 — 출근 / 퇴근 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7432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65100"/>
                </a:solidFill>
                <a:latin typeface="맑은 고딕"/>
              </a:rPr>
              <a:t>📌 출퇴근 기록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9712" y="217627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762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좌측 사이드바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홈 버튼 아래에 출퇴근 패널이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표시됩니다.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089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327355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2735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735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"🟢 출근" / "🔴 퇴근" 클릭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611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아침엔 출근, 퇴근 시엔 퇴근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버튼을 클릭합니다.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20624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39712" y="437083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370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708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근무자 선택 후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09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본인 이름을 선택하고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확인 버튼을 누릅니다.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513832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24728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출근 / 퇴근 모두 정확한 시간에 기록 (지각·조퇴는 자동 기록되어 급여 산정에 반영됩니다)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체크 누락 시 본사 근태관리 메뉴에서 수동 수정 요청 가능 — 자주 누락되지 않도록 주의해주세요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판매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고객 판매 발생 시 즉시 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sales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4630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65100"/>
                </a:solidFill>
                <a:latin typeface="맑은 고딕"/>
              </a:rPr>
              <a:t>📌 입력 순서</a:t>
            </a:r>
          </a:p>
        </p:txBody>
      </p:sp>
      <p:sp>
        <p:nvSpPr>
          <p:cNvPr id="10" name="Oval 9"/>
          <p:cNvSpPr/>
          <p:nvPr/>
        </p:nvSpPr>
        <p:spPr>
          <a:xfrm>
            <a:off x="7589520" y="1874519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874519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874519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상품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94559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브랜드 선택 후 상품명/코드로 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587752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5877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8775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수량 / 단가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907792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정상가, 할인금액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3300984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30098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300984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결제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62102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카드/현금/증정/시식/적립금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4014215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014215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014215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🚚 택배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334255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고객이 택배 요청 시 체크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4727448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47274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72744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회원 적립 (선택)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04748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회원이면 검색하여 연결</a:t>
            </a:r>
          </a:p>
        </p:txBody>
      </p:sp>
      <p:sp>
        <p:nvSpPr>
          <p:cNvPr id="30" name="Oval 29"/>
          <p:cNvSpPr/>
          <p:nvPr/>
        </p:nvSpPr>
        <p:spPr>
          <a:xfrm>
            <a:off x="7589520" y="544068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54406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44068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저장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7607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하단 "저장" 클릭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607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833872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44768"/>
            <a:ext cx="10835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여러 상품 한 번에 판매 시 우측 [상품추가] 버튼으로 라인 추가 · 저장 시 매장재고 자동 차감 · 적립금 사용·적립은 회원 검색 후 가능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반품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판매 취소 / 부분 반품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sales-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65100"/>
                </a:solidFill>
                <a:latin typeface="맑은 고딕"/>
              </a:rPr>
              <a:t>📌 반품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9712" y="217627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762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"반품 접수" 메뉴 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좌측 메뉴 → 반품 접수 클릭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089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327355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2735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735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판매 내역 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611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날짜 / 고객 / 상품명으로 원래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판매 건을 찾습니다.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20624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39712" y="437083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370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708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반품 수량 입력 →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09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전체 / 부분 반품 모두 가능.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</a:rPr>
              <a:t>수량 입력 후 확정합니다.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513832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24728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반품 시 매장재고는 자동 가산되지 않음 → 필요시 본사에 별도 안내 또는 매장재고 메뉴에서 수정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적립금이 사용된 판매를 반품할 경우 적립금 복구는 별도 처리 — 본사에 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회원(고객) 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두 가지 가입 방식 안내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669280" cy="402336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맑은 고딕"/>
              </a:rPr>
              <a:t>📱 QR 가입 (추천)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01010"/>
                </a:solidFill>
                <a:latin typeface="맑은 고딕"/>
              </a:rPr>
              <a:t>메뉴 → QR 가입 → 고객이 QR 스캔 → 휴대폰에서 정보 입력 → 자동 등록</a:t>
            </a:r>
          </a:p>
          <a:p>
            <a:r>
              <a:rPr sz="1000" b="0">
                <a:solidFill>
                  <a:srgbClr val="101010"/>
                </a:solidFill>
                <a:latin typeface="맑은 고딕"/>
              </a:rPr>
              <a:t>✓ 빠르고 정확  ✓ 고객이 직접 확인 (입력 실수 없음)</a:t>
            </a:r>
          </a:p>
        </p:txBody>
      </p:sp>
      <p:pic>
        <p:nvPicPr>
          <p:cNvPr id="11" name="Picture 10" descr="05-customer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5303520" cy="26060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371600"/>
            <a:ext cx="5669280" cy="402336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맑은 고딕"/>
              </a:rPr>
              <a:t>📝 서류 가입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01010"/>
                </a:solidFill>
                <a:latin typeface="맑은 고딕"/>
              </a:rPr>
              <a:t>메뉴 → 서류 가입 → 직원이 정보 입력(이름·연락처·생년월일) → 마케팅 동의 체크 → 저장</a:t>
            </a:r>
          </a:p>
          <a:p>
            <a:r>
              <a:rPr sz="1000" b="0">
                <a:solidFill>
                  <a:srgbClr val="101010"/>
                </a:solidFill>
                <a:latin typeface="맑은 고딕"/>
              </a:rPr>
              <a:t>✓ QR 사용 어려운 고객용</a:t>
            </a:r>
          </a:p>
        </p:txBody>
      </p:sp>
      <p:pic>
        <p:nvPicPr>
          <p:cNvPr id="15" name="Picture 14" descr="06-customer-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97480"/>
            <a:ext cx="5303520" cy="26060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544068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513832"/>
            <a:ext cx="111922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24728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마케팅 수신동의는 가입일 기준 1년 유효 — 만료 14일 전 자동 안내 SMS 발송, 무응답 시 1년 자동 연장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수신거부 원하는 회원은 무료수신거부 전화(0808092009)로 안내 · 생년월일 입력 시 생일 안내 메시지 발송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재고 요청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재고가 부족할 때 본사에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stock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65100"/>
                </a:solidFill>
                <a:latin typeface="맑은 고딕"/>
              </a:rPr>
              <a:t>📌 재고 요청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9712" y="217627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762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재고 요청 메뉴 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14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재고 관리 → 재고 요청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0175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318211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182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1821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상품 검색 후 수량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520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브랜드/상품명 검색, 필요 수량 입력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0233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39712" y="418795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879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메모 (선택) +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526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요청 사유나 특이사항이 있으면 메모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50292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39712" y="519379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193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19379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처리 상태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532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하단 "요청 이력"에서 대기 / 완료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513832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24728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본사는 센터(중앙창고)에서 보내거나 다른 매장에서 재고이동으로 보낼 수 있습니다 — 출처는 신경 쓰지 않으셔도 됩니다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처리 상태가 "✅ 완료"로 바뀌면 본사 출고 진행한 것 — 며칠 내 도착, 도착 후 "발주 확인 → 입고 확인" 탭에서 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재고 입고확인 /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도착한 물품 확인 + 매장재고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565C0"/>
                </a:solidFill>
                <a:latin typeface="맑은 고딕"/>
              </a:rPr>
              <a:t>🔵 입고 확인 — 도착한 물품을 시스템에 반영</a:t>
            </a:r>
          </a:p>
        </p:txBody>
      </p:sp>
      <p:pic>
        <p:nvPicPr>
          <p:cNvPr id="9" name="Picture 8" descr="08-purchase-rece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64008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입고 처리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01010"/>
                </a:solidFill>
                <a:latin typeface="맑은 고딕"/>
              </a:rPr>
              <a:t>1. 발주 확인 메뉴 → "입고 확인" 탭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2. 도착한 발주/이동 행 펼치기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3. 받은 수량 입력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4. ✅ 정상 / ❌ 이상 표시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5. "입고확인 완료" 클릭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· 본사 발주, 매장이동 모두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  한 곳에서 처리</a:t>
            </a:r>
          </a:p>
          <a:p>
            <a:r>
              <a:rPr sz="1100" b="0">
                <a:solidFill>
                  <a:srgbClr val="101010"/>
                </a:solidFill>
                <a:latin typeface="맑은 고딕"/>
              </a:rPr>
              <a:t>· 입고 즉시 매장재고에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01010"/>
                </a:solidFill>
                <a:latin typeface="맑은 고딕"/>
              </a:rPr>
              <a:t>🟢 매장재고 조회 — 재고 관리 → 매장재고 메뉴에서 본인 매장 모든 상품 재고 확인 / [수정]으로 실사 후 수량 조정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559552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70448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입고 확인 시 실제 받은 수량을 정확히 입력 (수량 차이 시 본사 연락) — 입고확인 즉시 매장재고 자동 가산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본사 발주든 매장이동이든 같은 "입고 확인" 탭에서 처리 — 어디서 왔는지 구분 안 해도 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rgbClr val="1A354F"/>
                </a:solidFill>
                <a:latin typeface="맑은 고딕"/>
              </a:rPr>
              <a:t>휴무 신청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</a:rPr>
              <a:t>매월 25일까지 다음달 휴무계획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leave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65100"/>
                </a:solidFill>
                <a:latin typeface="맑은 고딕"/>
              </a:rPr>
              <a:t>📌 신청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9712" y="217627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762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근태 관리 → 휴무 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14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좌측 메뉴에서 진입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0175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318211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182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1821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다음달 휴무일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520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캘린더에서 원하는 휴무 날짜 클릭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0233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39712" y="418795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879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354F"/>
                </a:solidFill>
                <a:latin typeface="맑은 고딕"/>
              </a:rPr>
              <a:t>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526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맑은 고딕"/>
              </a:rPr>
              <a:t>하단 "제출" 버튼 클릭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24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513832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5100"/>
                </a:solidFill>
                <a:latin typeface="맑은 고딕"/>
              </a:rPr>
              <a:t>📌 중요사항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24728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두 명 이상 근무 매장의 경우 — 먼저 한 명이 신청한 날은 다른 매니저가 선택할 수 없음 (중복 방지)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01010"/>
                </a:solidFill>
                <a:latin typeface="맑은 고딕"/>
              </a:rPr>
              <a:t>• 매월 20일~25일 사이 제출 마감 — 미제출 시 알림 표시, 다음달 시작 전까지 변경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맑은 고딕"/>
              </a:rPr>
              <a:t>팔레오 매장 운영 시스템 · 매니저 사용 가이드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A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DD835"/>
                </a:solidFill>
                <a:latin typeface="맑은 고딕"/>
              </a:rPr>
              <a:t>교육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맑은 고딕"/>
              </a:rPr>
              <a:t>CONGRATULATIONS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</a:rPr>
              <a:t>수고하셨습니다 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DD835"/>
                </a:solidFill>
                <a:latin typeface="맑은 고딕"/>
              </a:rPr>
              <a:t>이제 7가지 기능을 자유롭게 사용하실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5156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65100"/>
                </a:solidFill>
                <a:latin typeface="맑은 고딕"/>
              </a:rPr>
              <a:t>🆘 도움이 필요할 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💬 본사 담당자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시스템 사용 / 회원 가입</a:t>
            </a:r>
          </a:p>
          <a:p>
            <a:r>
              <a:rPr sz="1000" b="0">
                <a:solidFill>
                  <a:srgbClr val="404040"/>
                </a:solidFill>
                <a:latin typeface="맑은 고딕"/>
              </a:rPr>
              <a:t>재고 / 발주 문의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🔧 기술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212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오류 발생 / 화면 이상</a:t>
            </a:r>
          </a:p>
          <a:p>
            <a:r>
              <a:rPr sz="1000" b="0">
                <a:solidFill>
                  <a:srgbClr val="404040"/>
                </a:solidFill>
                <a:latin typeface="맑은 고딕"/>
              </a:rPr>
              <a:t>로그인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354F"/>
                </a:solidFill>
                <a:latin typeface="맑은 고딕"/>
              </a:rPr>
              <a:t>📚 매뉴얼 다시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212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04040"/>
                </a:solidFill>
                <a:latin typeface="맑은 고딕"/>
              </a:rPr>
              <a:t>본 자료를 다시 확인하거나</a:t>
            </a:r>
          </a:p>
          <a:p>
            <a:r>
              <a:rPr sz="1000" b="0">
                <a:solidFill>
                  <a:srgbClr val="404040"/>
                </a:solidFill>
                <a:latin typeface="맑은 고딕"/>
              </a:rPr>
              <a:t>본사에 추가 자료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맑은 고딕"/>
              </a:rPr>
              <a:t>(주)한국생활건강 · 팔레오 · 본 자료는 매장 매니저 내부 교육용입니다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